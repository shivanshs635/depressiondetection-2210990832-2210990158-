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h+2ucL0aM59hySmJy3ZE6kiK5b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c524c1e1e_0_9: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dc524c1e1e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c524c1e1e_0_15: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g3dc524c1e1e_0_15: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c524c1e1e_0_2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g3dc524c1e1e_0_2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c524c1e1e_0_32: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c524c1e1e_0_3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c524c1e1e_0_3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dc524c1e1e_0_3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c524c1e1e_0_58: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dc524c1e1e_0_5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c524c1e1e_0_6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c524c1e1e_0_6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c524c1e1e_0_70: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dc524c1e1e_0_7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c524c1e1e_0_76: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dc524c1e1e_0_7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c524c1e1e_0_44:notes"/>
          <p:cNvSpPr txBox="1"/>
          <p:nvPr>
            <p:ph idx="1" type="body"/>
          </p:nvPr>
        </p:nvSpPr>
        <p:spPr>
          <a:xfrm>
            <a:off x="755650" y="5145088"/>
            <a:ext cx="6048300" cy="421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c524c1e1e_0_44: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6"/>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7"/>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10"/>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1"/>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1"/>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1"/>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2"/>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3"/>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4"/>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5"/>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6"/>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6"/>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6"/>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6"/>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6"/>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6"/>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2.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4"/>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4"/>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4"/>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4"/>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4"/>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4"/>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840631"/>
            <a:ext cx="9144000" cy="537728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Project Presentation of CO-OP Project at Industry (Module-2) (22CS421)</a:t>
            </a:r>
            <a:endParaRPr b="1" i="0" sz="1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On</a:t>
            </a:r>
            <a:endParaRPr/>
          </a:p>
          <a:p>
            <a:pPr indent="0" lvl="0" marL="0" marR="0" rtl="0" algn="ctr">
              <a:lnSpc>
                <a:spcPct val="100000"/>
              </a:lnSpc>
              <a:spcBef>
                <a:spcPts val="400"/>
              </a:spcBef>
              <a:spcAft>
                <a:spcPts val="0"/>
              </a:spcAft>
              <a:buNone/>
            </a:pPr>
            <a:r>
              <a:rPr lang="en-US" sz="4800">
                <a:solidFill>
                  <a:schemeClr val="dk1"/>
                </a:solidFill>
                <a:latin typeface="Times New Roman"/>
                <a:ea typeface="Times New Roman"/>
                <a:cs typeface="Times New Roman"/>
                <a:sym typeface="Times New Roman"/>
              </a:rPr>
              <a:t>Depression Detection Using Social Media Text</a:t>
            </a:r>
            <a:endParaRPr b="0" i="1"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br>
              <a:rPr b="0" i="0" lang="en-US" sz="2000" u="none" cap="none" strike="noStrike">
                <a:solidFill>
                  <a:srgbClr val="000000"/>
                </a:solidFill>
                <a:latin typeface="Times New Roman"/>
                <a:ea typeface="Times New Roman"/>
                <a:cs typeface="Times New Roman"/>
                <a:sym typeface="Times New Roman"/>
              </a:rPr>
            </a:br>
            <a:r>
              <a:rPr lang="en-US" sz="2000">
                <a:latin typeface="Times New Roman"/>
                <a:ea typeface="Times New Roman"/>
                <a:cs typeface="Times New Roman"/>
                <a:sym typeface="Times New Roman"/>
              </a:rPr>
              <a:t>Shivansh Sharma</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(2210990832)</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Armaan Sharma</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(2210990158)</a:t>
            </a:r>
            <a:endParaRPr sz="2000">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a:t>
            </a:r>
            <a:endParaRPr/>
          </a:p>
          <a:p>
            <a:pPr indent="0" lvl="0" marL="0" marR="0" rtl="0" algn="ctr">
              <a:lnSpc>
                <a:spcPct val="100000"/>
              </a:lnSpc>
              <a:spcBef>
                <a:spcPts val="400"/>
              </a:spcBef>
              <a:spcAft>
                <a:spcPts val="0"/>
              </a:spcAft>
              <a:buNone/>
            </a:pPr>
            <a:r>
              <a:rPr lang="en-US" sz="2000">
                <a:latin typeface="Times New Roman"/>
                <a:ea typeface="Times New Roman"/>
                <a:cs typeface="Times New Roman"/>
                <a:sym typeface="Times New Roman"/>
              </a:rPr>
              <a:t>Dr. Lalit K Sharma</a:t>
            </a:r>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Department of Computer Science and Engineering, </a:t>
            </a:r>
            <a:endParaRPr/>
          </a:p>
          <a:p>
            <a:pPr indent="0" lvl="0" marL="0" marR="0" rtl="0" algn="ctr">
              <a:lnSpc>
                <a:spcPct val="100000"/>
              </a:lnSpc>
              <a:spcBef>
                <a:spcPts val="400"/>
              </a:spcBef>
              <a:spcAft>
                <a:spcPts val="0"/>
              </a:spcAft>
              <a:buNone/>
            </a:pPr>
            <a:r>
              <a:rPr b="0" i="0" lang="en-US" sz="2400" u="none" cap="none" strike="noStrike">
                <a:solidFill>
                  <a:schemeClr val="dk1"/>
                </a:solidFill>
                <a:latin typeface="Times New Roman"/>
                <a:ea typeface="Times New Roman"/>
                <a:cs typeface="Times New Roman"/>
                <a:sym typeface="Times New Roman"/>
              </a:rPr>
              <a:t>Chitkara University, Punjab</a:t>
            </a:r>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641"/>
              </a:spcBef>
              <a:spcAft>
                <a:spcPts val="0"/>
              </a:spcAft>
              <a:buNone/>
            </a:pPr>
            <a:r>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700" u="none" cap="none" strike="noStrike">
                <a:solidFill>
                  <a:schemeClr val="dk1"/>
                </a:solidFill>
                <a:latin typeface="Times New Roman"/>
                <a:ea typeface="Times New Roman"/>
                <a:cs typeface="Times New Roman"/>
                <a:sym typeface="Times New Roman"/>
              </a:rPr>
              <a:t>Introduction: </a:t>
            </a:r>
            <a:r>
              <a:rPr lang="en-US" sz="2700">
                <a:solidFill>
                  <a:schemeClr val="dk1"/>
                </a:solidFill>
                <a:latin typeface="Times New Roman"/>
                <a:ea typeface="Times New Roman"/>
                <a:cs typeface="Times New Roman"/>
                <a:sym typeface="Times New Roman"/>
              </a:rPr>
              <a:t>A New Era of Mental Health Screening</a:t>
            </a:r>
            <a:endParaRPr b="0" i="0" sz="2600" u="none" cap="none" strike="noStrik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4838571"/>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The Vision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Shift from </a:t>
            </a:r>
            <a:r>
              <a:rPr b="1" lang="en-US" sz="1100">
                <a:solidFill>
                  <a:schemeClr val="dk1"/>
                </a:solidFill>
              </a:rPr>
              <a:t>reactive care → proactive detection</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Identify early signs of depression through </a:t>
            </a:r>
            <a:r>
              <a:rPr b="1" lang="en-US" sz="1100">
                <a:solidFill>
                  <a:schemeClr val="dk1"/>
                </a:solidFill>
              </a:rPr>
              <a:t>digital behavior analysis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Enable timely intervention before conditions worsen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The Privacy Challenge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Mental health data is </a:t>
            </a:r>
            <a:r>
              <a:rPr b="1" lang="en-US" sz="1100">
                <a:solidFill>
                  <a:schemeClr val="dk1"/>
                </a:solidFill>
              </a:rPr>
              <a:t>highly sensitive</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Traditional systems rely on </a:t>
            </a:r>
            <a:r>
              <a:rPr b="1" lang="en-US" sz="1100">
                <a:solidFill>
                  <a:schemeClr val="dk1"/>
                </a:solidFill>
              </a:rPr>
              <a:t>cloud processing</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Our approach ensures </a:t>
            </a:r>
            <a:r>
              <a:rPr b="1" lang="en-US" sz="1100">
                <a:solidFill>
                  <a:schemeClr val="dk1"/>
                </a:solidFill>
              </a:rPr>
              <a:t>100% local, privacy-first analysis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What This System Does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Analyzes </a:t>
            </a:r>
            <a:r>
              <a:rPr b="1" lang="en-US" sz="1100">
                <a:solidFill>
                  <a:schemeClr val="dk1"/>
                </a:solidFill>
              </a:rPr>
              <a:t>real-time social media content</a:t>
            </a:r>
            <a:r>
              <a:rPr lang="en-US" sz="1100">
                <a:solidFill>
                  <a:schemeClr val="dk1"/>
                </a:solidFill>
              </a:rPr>
              <a:t> (e.g., Reddit)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Detects </a:t>
            </a:r>
            <a:r>
              <a:rPr b="1" lang="en-US" sz="1100">
                <a:solidFill>
                  <a:schemeClr val="dk1"/>
                </a:solidFill>
              </a:rPr>
              <a:t>depression severity levels</a:t>
            </a:r>
            <a:r>
              <a:rPr lang="en-US" sz="1100">
                <a:solidFill>
                  <a:schemeClr val="dk1"/>
                </a:solidFill>
              </a:rPr>
              <a: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Normal</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Mild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Severe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Provides </a:t>
            </a:r>
            <a:r>
              <a:rPr b="1" lang="en-US" sz="1100">
                <a:solidFill>
                  <a:schemeClr val="dk1"/>
                </a:solidFill>
              </a:rPr>
              <a:t>explainable insights</a:t>
            </a:r>
            <a:r>
              <a:rPr lang="en-US" sz="1100">
                <a:solidFill>
                  <a:schemeClr val="dk1"/>
                </a:solidFill>
              </a:rPr>
              <a:t> using linguistic patterns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Key Innovation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Uses </a:t>
            </a:r>
            <a:r>
              <a:rPr b="1" lang="en-US" sz="1100">
                <a:solidFill>
                  <a:schemeClr val="dk1"/>
                </a:solidFill>
              </a:rPr>
              <a:t>local Transformer models (DistilBERT)</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Powered by </a:t>
            </a:r>
            <a:r>
              <a:rPr b="1" lang="en-US" sz="1100">
                <a:solidFill>
                  <a:schemeClr val="dk1"/>
                </a:solidFill>
              </a:rPr>
              <a:t>Node.js + Transformers.js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cloud dependency → </a:t>
            </a:r>
            <a:r>
              <a:rPr b="1" lang="en-US" sz="1100">
                <a:solidFill>
                  <a:schemeClr val="dk1"/>
                </a:solidFill>
              </a:rPr>
              <a:t>fast, secure, and cost-efficient</a:t>
            </a:r>
            <a:endParaRPr b="1"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dc524c1e1e_0_9"/>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Problem Statement</a:t>
            </a:r>
            <a:endParaRPr b="0" i="0" sz="2600" u="none" cap="none" strike="noStrike">
              <a:solidFill>
                <a:srgbClr val="000000"/>
              </a:solidFill>
              <a:latin typeface="Times New Roman"/>
              <a:ea typeface="Times New Roman"/>
              <a:cs typeface="Times New Roman"/>
              <a:sym typeface="Times New Roman"/>
            </a:endParaRPr>
          </a:p>
        </p:txBody>
      </p:sp>
      <p:sp>
        <p:nvSpPr>
          <p:cNvPr id="97" name="Google Shape;97;g3dc524c1e1e_0_9"/>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98" name="Google Shape;98;g3dc524c1e1e_0_9"/>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800">
                <a:solidFill>
                  <a:schemeClr val="dk1"/>
                </a:solidFill>
              </a:rPr>
              <a:t>Depression is a serious mental health condition that frequently remains undetected in its early stages due to the lack of accessible and timely diagnostic tools. Traditional methods of diagnosis are often slow, resource-intensive, and dependent on clinical intervention. Although social media contains valuable emotional signals, extracting meaningful insights from such noisy and unstructured data is challenging. Additionally, existing AI-based solutions rely heavily on cloud infrastructure, raising significant concerns about user privacy and data security.</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dc524c1e1e_0_15"/>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Objectives</a:t>
            </a:r>
            <a:endParaRPr b="0" i="0" sz="2600" u="none" cap="none" strike="noStrike">
              <a:solidFill>
                <a:srgbClr val="000000"/>
              </a:solidFill>
              <a:latin typeface="Times New Roman"/>
              <a:ea typeface="Times New Roman"/>
              <a:cs typeface="Times New Roman"/>
              <a:sym typeface="Times New Roman"/>
            </a:endParaRPr>
          </a:p>
        </p:txBody>
      </p:sp>
      <p:sp>
        <p:nvSpPr>
          <p:cNvPr id="104" name="Google Shape;104;g3dc524c1e1e_0_15"/>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05" name="Google Shape;105;g3dc524c1e1e_0_15"/>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800">
                <a:solidFill>
                  <a:schemeClr val="dk1"/>
                </a:solidFill>
              </a:rPr>
              <a:t>The primary objective of this project is to develop an intelligent system capable of detecting signs of depression through textual data analysis. The system aims to classify user content into different levels of depression severity, such as normal, mild, and severe. Another key objective is to ensure complete data privacy by performing all computations locally. Furthermore, the project seeks to provide fast, accurate, and explainable results that can assist researchers and mental health professionals.</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dc524c1e1e_0_26"/>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Proposed Solution</a:t>
            </a:r>
            <a:endParaRPr b="0" i="0" sz="2600" u="none" cap="none" strike="noStrike">
              <a:solidFill>
                <a:srgbClr val="000000"/>
              </a:solidFill>
              <a:latin typeface="Times New Roman"/>
              <a:ea typeface="Times New Roman"/>
              <a:cs typeface="Times New Roman"/>
              <a:sym typeface="Times New Roman"/>
            </a:endParaRPr>
          </a:p>
        </p:txBody>
      </p:sp>
      <p:sp>
        <p:nvSpPr>
          <p:cNvPr id="111" name="Google Shape;111;g3dc524c1e1e_0_26"/>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2" name="Google Shape;112;g3dc524c1e1e_0_26"/>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800">
                <a:solidFill>
                  <a:schemeClr val="dk1"/>
                </a:solidFill>
              </a:rPr>
              <a:t>The proposed solution is a Depression Detection Engine that analyzes real-time social media content to identify patterns associated with depressive behavior. By leveraging advanced natural language processing techniques, the system processes textual inputs and generates meaningful insights regarding mental health conditions. The solution is designed to operate entirely on local machines, eliminating the need for cloud-based processing and ensuring both speed and data privacy.</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dc524c1e1e_0_32"/>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System Architecture</a:t>
            </a:r>
            <a:endParaRPr b="0" i="0" sz="2600" u="none" cap="none" strike="noStrike">
              <a:solidFill>
                <a:srgbClr val="000000"/>
              </a:solidFill>
              <a:latin typeface="Times New Roman"/>
              <a:ea typeface="Times New Roman"/>
              <a:cs typeface="Times New Roman"/>
              <a:sym typeface="Times New Roman"/>
            </a:endParaRPr>
          </a:p>
        </p:txBody>
      </p:sp>
      <p:sp>
        <p:nvSpPr>
          <p:cNvPr id="118" name="Google Shape;118;g3dc524c1e1e_0_32"/>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19" name="Google Shape;119;g3dc524c1e1e_0_32"/>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800">
                <a:solidFill>
                  <a:schemeClr val="dk1"/>
                </a:solidFill>
              </a:rPr>
              <a:t>The system architecture consists of multiple stages, beginning with the collection of textual data from social media platforms such as Reddit. The data then undergoes preprocessing steps, including cleaning and tokenization, to prepare it for analysis. A transformer-based machine learning model is used to perform inference and classify the text into different depression levels. Finally, the system outputs the predicted severity along with highlighted keywords that contribute to the classification, making the results more interpretable.</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dc524c1e1e_0_38"/>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Technologies Used</a:t>
            </a:r>
            <a:endParaRPr b="0" i="0" sz="2600" u="none" cap="none" strike="noStrike">
              <a:solidFill>
                <a:srgbClr val="000000"/>
              </a:solidFill>
              <a:latin typeface="Times New Roman"/>
              <a:ea typeface="Times New Roman"/>
              <a:cs typeface="Times New Roman"/>
              <a:sym typeface="Times New Roman"/>
            </a:endParaRPr>
          </a:p>
        </p:txBody>
      </p:sp>
      <p:sp>
        <p:nvSpPr>
          <p:cNvPr id="125" name="Google Shape;125;g3dc524c1e1e_0_3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26" name="Google Shape;126;g3dc524c1e1e_0_38"/>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Node.js</a:t>
            </a:r>
            <a:r>
              <a:rPr lang="en-US" sz="1800">
                <a:solidFill>
                  <a:schemeClr val="dk1"/>
                </a:solidFill>
              </a:rPr>
              <a:t> – Handles backend processing and execution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Transformers.js</a:t>
            </a:r>
            <a:r>
              <a:rPr lang="en-US" sz="1800">
                <a:solidFill>
                  <a:schemeClr val="dk1"/>
                </a:solidFill>
              </a:rPr>
              <a:t> – Enables running AI models locally in JavaScript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DistilBERT</a:t>
            </a:r>
            <a:r>
              <a:rPr lang="en-US" sz="1800">
                <a:solidFill>
                  <a:schemeClr val="dk1"/>
                </a:solidFill>
              </a:rPr>
              <a:t> – Pre-trained NLP model for text classification</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JavaScript</a:t>
            </a:r>
            <a:r>
              <a:rPr lang="en-US" sz="1800">
                <a:solidFill>
                  <a:schemeClr val="dk1"/>
                </a:solidFill>
              </a:rPr>
              <a:t> – Core programming language for development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Reddit API</a:t>
            </a:r>
            <a:r>
              <a:rPr lang="en-US" sz="1800">
                <a:solidFill>
                  <a:schemeClr val="dk1"/>
                </a:solidFill>
              </a:rPr>
              <a:t> – Source for real-time social media data</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c524c1e1e_0_58"/>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Key Features</a:t>
            </a:r>
            <a:endParaRPr b="0" i="0" sz="2600" u="none" cap="none" strike="noStrike">
              <a:solidFill>
                <a:srgbClr val="000000"/>
              </a:solidFill>
              <a:latin typeface="Times New Roman"/>
              <a:ea typeface="Times New Roman"/>
              <a:cs typeface="Times New Roman"/>
              <a:sym typeface="Times New Roman"/>
            </a:endParaRPr>
          </a:p>
        </p:txBody>
      </p:sp>
      <p:sp>
        <p:nvSpPr>
          <p:cNvPr id="132" name="Google Shape;132;g3dc524c1e1e_0_5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33" name="Google Shape;133;g3dc524c1e1e_0_58"/>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b="1" lang="en-US" sz="1800">
                <a:solidFill>
                  <a:schemeClr val="dk1"/>
                </a:solidFill>
              </a:rPr>
              <a:t>Privacy-First Approach</a:t>
            </a:r>
            <a:r>
              <a:rPr lang="en-US" sz="1800">
                <a:solidFill>
                  <a:schemeClr val="dk1"/>
                </a:solidFill>
              </a:rPr>
              <a:t> – No cloud usage, all processing is local</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Real-Time Analysis</a:t>
            </a:r>
            <a:r>
              <a:rPr lang="en-US" sz="1800">
                <a:solidFill>
                  <a:schemeClr val="dk1"/>
                </a:solidFill>
              </a:rPr>
              <a:t> – Instant detection of depressive patterns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AI-Based Classification</a:t>
            </a:r>
            <a:r>
              <a:rPr lang="en-US" sz="1800">
                <a:solidFill>
                  <a:schemeClr val="dk1"/>
                </a:solidFill>
              </a:rPr>
              <a:t> – Uses NLP for accurate predictions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Severity Detection</a:t>
            </a:r>
            <a:r>
              <a:rPr lang="en-US" sz="1800">
                <a:solidFill>
                  <a:schemeClr val="dk1"/>
                </a:solidFill>
              </a:rPr>
              <a:t> – Classifies into Normal, Mild, Severe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Explainable Results</a:t>
            </a:r>
            <a:r>
              <a:rPr lang="en-US" sz="1800">
                <a:solidFill>
                  <a:schemeClr val="dk1"/>
                </a:solidFill>
              </a:rPr>
              <a:t> – Highlights important keywords</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c524c1e1e_0_64"/>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Advantages</a:t>
            </a:r>
            <a:endParaRPr b="0" i="0" sz="2600" u="none" cap="none" strike="noStrike">
              <a:solidFill>
                <a:srgbClr val="000000"/>
              </a:solidFill>
              <a:latin typeface="Times New Roman"/>
              <a:ea typeface="Times New Roman"/>
              <a:cs typeface="Times New Roman"/>
              <a:sym typeface="Times New Roman"/>
            </a:endParaRPr>
          </a:p>
        </p:txBody>
      </p:sp>
      <p:sp>
        <p:nvSpPr>
          <p:cNvPr id="139" name="Google Shape;139;g3dc524c1e1e_0_64"/>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40" name="Google Shape;140;g3dc524c1e1e_0_64"/>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Ensures </a:t>
            </a:r>
            <a:r>
              <a:rPr b="1" lang="en-US" sz="1800">
                <a:solidFill>
                  <a:schemeClr val="dk1"/>
                </a:solidFill>
              </a:rPr>
              <a:t>complete data security and privacy</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Faster performance compared to </a:t>
            </a:r>
            <a:r>
              <a:rPr b="1" lang="en-US" sz="1800">
                <a:solidFill>
                  <a:schemeClr val="dk1"/>
                </a:solidFill>
              </a:rPr>
              <a:t>cloud-based systems</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b="1" lang="en-US" sz="1800">
                <a:solidFill>
                  <a:schemeClr val="dk1"/>
                </a:solidFill>
              </a:rPr>
              <a:t>Cost-efficient</a:t>
            </a:r>
            <a:r>
              <a:rPr lang="en-US" sz="1800">
                <a:solidFill>
                  <a:schemeClr val="dk1"/>
                </a:solidFill>
              </a:rPr>
              <a:t> – No external API usage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Can work </a:t>
            </a:r>
            <a:r>
              <a:rPr b="1" lang="en-US" sz="1800">
                <a:solidFill>
                  <a:schemeClr val="dk1"/>
                </a:solidFill>
              </a:rPr>
              <a:t>offline without internet dependency</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Useful for </a:t>
            </a:r>
            <a:r>
              <a:rPr b="1" lang="en-US" sz="1800">
                <a:solidFill>
                  <a:schemeClr val="dk1"/>
                </a:solidFill>
              </a:rPr>
              <a:t>research and mental health support systems</a:t>
            </a:r>
            <a:endParaRPr b="1"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c524c1e1e_0_70"/>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Limitations</a:t>
            </a:r>
            <a:endParaRPr b="0" i="0" sz="2600" u="none" cap="none" strike="noStrike">
              <a:solidFill>
                <a:srgbClr val="000000"/>
              </a:solidFill>
              <a:latin typeface="Times New Roman"/>
              <a:ea typeface="Times New Roman"/>
              <a:cs typeface="Times New Roman"/>
              <a:sym typeface="Times New Roman"/>
            </a:endParaRPr>
          </a:p>
        </p:txBody>
      </p:sp>
      <p:sp>
        <p:nvSpPr>
          <p:cNvPr id="146" name="Google Shape;146;g3dc524c1e1e_0_7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47" name="Google Shape;147;g3dc524c1e1e_0_70"/>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Accuracy depends on </a:t>
            </a:r>
            <a:r>
              <a:rPr b="1" lang="en-US" sz="1800">
                <a:solidFill>
                  <a:schemeClr val="dk1"/>
                </a:solidFill>
              </a:rPr>
              <a:t>input data quality</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Limited to </a:t>
            </a:r>
            <a:r>
              <a:rPr b="1" lang="en-US" sz="1800">
                <a:solidFill>
                  <a:schemeClr val="dk1"/>
                </a:solidFill>
              </a:rPr>
              <a:t>text-based analysis only</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Requires further </a:t>
            </a:r>
            <a:r>
              <a:rPr b="1" lang="en-US" sz="1800">
                <a:solidFill>
                  <a:schemeClr val="dk1"/>
                </a:solidFill>
              </a:rPr>
              <a:t>model tuning for improvement</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Cannot replace </a:t>
            </a:r>
            <a:r>
              <a:rPr b="1" lang="en-US" sz="1800">
                <a:solidFill>
                  <a:schemeClr val="dk1"/>
                </a:solidFill>
              </a:rPr>
              <a:t>professional medical diagnosis</a:t>
            </a:r>
            <a:endParaRPr b="1" sz="1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dc524c1e1e_0_76"/>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Future Scope</a:t>
            </a:r>
            <a:endParaRPr b="0" i="0" sz="2600" u="none" cap="none" strike="noStrike">
              <a:solidFill>
                <a:srgbClr val="000000"/>
              </a:solidFill>
              <a:latin typeface="Times New Roman"/>
              <a:ea typeface="Times New Roman"/>
              <a:cs typeface="Times New Roman"/>
              <a:sym typeface="Times New Roman"/>
            </a:endParaRPr>
          </a:p>
        </p:txBody>
      </p:sp>
      <p:sp>
        <p:nvSpPr>
          <p:cNvPr id="153" name="Google Shape;153;g3dc524c1e1e_0_76"/>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54" name="Google Shape;154;g3dc524c1e1e_0_76"/>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Support for platforms like </a:t>
            </a:r>
            <a:r>
              <a:rPr b="1" lang="en-US" sz="1800">
                <a:solidFill>
                  <a:schemeClr val="dk1"/>
                </a:solidFill>
              </a:rPr>
              <a:t>Twitter and Instagram</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Development of </a:t>
            </a:r>
            <a:r>
              <a:rPr b="1" lang="en-US" sz="1800">
                <a:solidFill>
                  <a:schemeClr val="dk1"/>
                </a:solidFill>
              </a:rPr>
              <a:t>mobile application integration</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Addition of </a:t>
            </a:r>
            <a:r>
              <a:rPr b="1" lang="en-US" sz="1800">
                <a:solidFill>
                  <a:schemeClr val="dk1"/>
                </a:solidFill>
              </a:rPr>
              <a:t>multilingual support</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Use of </a:t>
            </a:r>
            <a:r>
              <a:rPr b="1" lang="en-US" sz="1800">
                <a:solidFill>
                  <a:schemeClr val="dk1"/>
                </a:solidFill>
              </a:rPr>
              <a:t>advanced AI models for better accuracy</a:t>
            </a:r>
            <a:endParaRPr b="1"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Integration with </a:t>
            </a:r>
            <a:r>
              <a:rPr b="1" lang="en-US" sz="1800">
                <a:solidFill>
                  <a:schemeClr val="dk1"/>
                </a:solidFill>
              </a:rPr>
              <a:t>mental health assistance systems</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c524c1e1e_0_44"/>
          <p:cNvSpPr txBox="1"/>
          <p:nvPr/>
        </p:nvSpPr>
        <p:spPr>
          <a:xfrm>
            <a:off x="0" y="55200"/>
            <a:ext cx="6019500" cy="717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2700">
                <a:solidFill>
                  <a:schemeClr val="dk1"/>
                </a:solidFill>
                <a:latin typeface="Times New Roman"/>
                <a:ea typeface="Times New Roman"/>
                <a:cs typeface="Times New Roman"/>
                <a:sym typeface="Times New Roman"/>
              </a:rPr>
              <a:t>Conclusion</a:t>
            </a:r>
            <a:endParaRPr b="0" i="0" sz="2600" u="none" cap="none" strike="noStrike">
              <a:solidFill>
                <a:srgbClr val="000000"/>
              </a:solidFill>
              <a:latin typeface="Times New Roman"/>
              <a:ea typeface="Times New Roman"/>
              <a:cs typeface="Times New Roman"/>
              <a:sym typeface="Times New Roman"/>
            </a:endParaRPr>
          </a:p>
        </p:txBody>
      </p:sp>
      <p:sp>
        <p:nvSpPr>
          <p:cNvPr id="160" name="Google Shape;160;g3dc524c1e1e_0_44"/>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
        <p:nvSpPr>
          <p:cNvPr id="161" name="Google Shape;161;g3dc524c1e1e_0_44"/>
          <p:cNvSpPr txBox="1"/>
          <p:nvPr/>
        </p:nvSpPr>
        <p:spPr>
          <a:xfrm>
            <a:off x="164008" y="1109742"/>
            <a:ext cx="8838600" cy="4838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None/>
            </a:pPr>
            <a:r>
              <a:rPr lang="en-US" sz="1800">
                <a:solidFill>
                  <a:schemeClr val="dk1"/>
                </a:solidFill>
              </a:rPr>
              <a:t>In conclusion, early detection of depression plays a crucial role in improving mental health outcomes. This project presents a privacy-first, AI-driven solution that combines speed, accuracy, and security. By leveraging local processing and advanced natural language techniques, the system offers a responsible and ethical approach to mental health analysis, contributing to the future of intelligent healthcare solutions.</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
          <p:cNvSpPr txBox="1"/>
          <p:nvPr/>
        </p:nvSpPr>
        <p:spPr>
          <a:xfrm>
            <a:off x="1297577" y="2821578"/>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5400" u="none" cap="none" strike="noStrike">
                <a:solidFill>
                  <a:schemeClr val="dk1"/>
                </a:solidFill>
                <a:latin typeface="Times New Roman"/>
                <a:ea typeface="Times New Roman"/>
                <a:cs typeface="Times New Roman"/>
                <a:sym typeface="Times New Roman"/>
              </a:rPr>
              <a:t>Thank You</a:t>
            </a:r>
            <a:endParaRPr b="0" i="0" sz="5400" u="none" cap="none" strike="noStrike">
              <a:solidFill>
                <a:srgbClr val="000000"/>
              </a:solidFill>
              <a:latin typeface="Times New Roman"/>
              <a:ea typeface="Times New Roman"/>
              <a:cs typeface="Times New Roman"/>
              <a:sym typeface="Times New Roman"/>
            </a:endParaRPr>
          </a:p>
        </p:txBody>
      </p:sp>
      <p:sp>
        <p:nvSpPr>
          <p:cNvPr id="167" name="Google Shape;167;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Calibri"/>
                <a:ea typeface="Calibri"/>
                <a:cs typeface="Calibri"/>
                <a:sym typeface="Calibri"/>
              </a:rPr>
              <a:t>‹#›</a:t>
            </a:fld>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2010-04-09T07:36:15Z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